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17"/>
  </p:handoutMasterIdLst>
  <p:sldIdLst>
    <p:sldId id="338" r:id="rId3"/>
    <p:sldId id="327" r:id="rId4"/>
    <p:sldId id="315" r:id="rId5"/>
    <p:sldId id="329" r:id="rId6"/>
    <p:sldId id="302" r:id="rId7"/>
    <p:sldId id="339" r:id="rId9"/>
    <p:sldId id="347" r:id="rId10"/>
    <p:sldId id="340" r:id="rId11"/>
    <p:sldId id="344" r:id="rId12"/>
    <p:sldId id="341" r:id="rId13"/>
    <p:sldId id="342" r:id="rId14"/>
    <p:sldId id="343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6" userDrawn="1">
          <p15:clr>
            <a:srgbClr val="A4A3A4"/>
          </p15:clr>
        </p15:guide>
        <p15:guide id="3" orient="horz" pos="3939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 showGuides="1">
      <p:cViewPr varScale="1">
        <p:scale>
          <a:sx n="82" d="100"/>
          <a:sy n="82" d="100"/>
        </p:scale>
        <p:origin x="624" y="72"/>
      </p:cViewPr>
      <p:guideLst>
        <p:guide orient="horz" pos="1968"/>
        <p:guide pos="386"/>
        <p:guide orient="horz" pos="3939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ustomXml" Target="../customXml/item3.xml"/><Relationship Id="rId22" Type="http://schemas.openxmlformats.org/officeDocument/2006/relationships/customXml" Target="../customXml/item2.xml"/><Relationship Id="rId21" Type="http://schemas.openxmlformats.org/officeDocument/2006/relationships/customXml" Target="../customXml/item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</p:txBody>
      </p:sp>
      <p:sp>
        <p:nvSpPr>
          <p:cNvPr id="15" name="Hexagon 14"/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/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/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/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/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/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2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/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8" name="Date Placeholder 3"/>
          <p:cNvSpPr txBox="1"/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/>
          <p:cNvSpPr txBox="1"/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  <a:endParaRPr lang="en-US" sz="1100" b="1" dirty="0">
              <a:solidFill>
                <a:schemeClr val="accent2"/>
              </a:solidFill>
            </a:endParaRPr>
          </a:p>
        </p:txBody>
      </p:sp>
      <p:sp>
        <p:nvSpPr>
          <p:cNvPr id="30" name="Slide Number Placeholder 5"/>
          <p:cNvSpPr txBox="1"/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-135255" y="3583940"/>
            <a:ext cx="3312160" cy="861695"/>
          </a:xfrm>
        </p:spPr>
        <p:txBody>
          <a:bodyPr vert="horz" lIns="91440" tIns="45720" rIns="91440" bIns="45720" rtlCol="0" anchor="t">
            <a:normAutofit fontScale="70000"/>
          </a:bodyPr>
          <a:lstStyle/>
          <a:p>
            <a:pPr algn="r"/>
            <a:r>
              <a:rPr lang="en-IN" altLang="en-US" b="0" dirty="0">
                <a:solidFill>
                  <a:schemeClr val="tx1"/>
                </a:solidFill>
              </a:rPr>
              <a:t>Ch. Harshitha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C</a:t>
            </a:r>
            <a:r>
              <a:rPr lang="en-IN" altLang="en-US" b="0" dirty="0">
                <a:solidFill>
                  <a:schemeClr val="tx1"/>
                </a:solidFill>
              </a:rPr>
              <a:t>MR Institute of Technology, Hyderabad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8180" y="2844800"/>
            <a:ext cx="9940925" cy="743585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Seasonal Agriculture Performance Analysis</a:t>
            </a:r>
            <a:endParaRPr lang="en-US" altLang="en-US" sz="3200" dirty="0"/>
          </a:p>
        </p:txBody>
      </p:sp>
      <p:sp>
        <p:nvSpPr>
          <p:cNvPr id="15" name="Text Placeholder 1"/>
          <p:cNvSpPr txBox="1"/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7580" y="4576445"/>
            <a:ext cx="4138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altLang="en-US" b="1" dirty="0"/>
              <a:t>STU69ef52de89f961777291998</a:t>
            </a:r>
            <a:endParaRPr lang="en-US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60000" lnSpcReduction="20000"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 However, raw agricultural data does not clearly explain how agricultural performance changes across seasons or what patterns can be observed in different seasonal conditions. 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2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sz="2000" b="0">
                <a:sym typeface="+mn-ea"/>
              </a:rPr>
              <a:t>Agricultural performance can vary due to seasonal conditions, farming practices, resource availability and market conditions.</a:t>
            </a:r>
            <a:br>
              <a:rPr sz="2000" b="0">
                <a:sym typeface="+mn-ea"/>
              </a:rPr>
            </a:br>
            <a:br>
              <a:rPr sz="2000" b="0">
                <a:sym typeface="+mn-ea"/>
              </a:rPr>
            </a:br>
            <a:r>
              <a:rPr sz="2000" b="0">
                <a:sym typeface="+mn-ea"/>
              </a:rPr>
              <a:t>The project analyzes the dataset to identify seasonal patterns, trends, relationships and differences in agricultural performance.</a:t>
            </a:r>
            <a:br>
              <a:rPr sz="2000" b="0">
                <a:sym typeface="+mn-ea"/>
              </a:rPr>
            </a:br>
            <a:br>
              <a:rPr sz="2000" b="0">
                <a:sym typeface="+mn-ea"/>
              </a:rPr>
            </a:br>
            <a:r>
              <a:rPr sz="2000" b="0">
                <a:sym typeface="+mn-ea"/>
              </a:rPr>
              <a:t>The analysis includes data cleaning, exploratory analysis, statistical analysis, outlier investigation, correlation analysis and seasonal comparisons.</a:t>
            </a:r>
            <a:br>
              <a:rPr sz="2000" b="0">
                <a:sym typeface="+mn-ea"/>
              </a:rPr>
            </a:br>
            <a:br>
              <a:rPr sz="2000" b="0">
                <a:sym typeface="+mn-ea"/>
              </a:rPr>
            </a:br>
            <a:r>
              <a:rPr sz="2000" b="0">
                <a:sym typeface="+mn-ea"/>
              </a:rPr>
              <a:t>The goal is to transform raw agricultural data into meaningful insights that can support evidence-based agricultural planning.</a:t>
            </a:r>
            <a:endParaRPr lang="en-IN" sz="2000" b="0" dirty="0"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0000"/>
          </a:bodyPr>
          <a:lstStyle/>
          <a:p>
            <a:pPr>
              <a:spcAft>
                <a:spcPts val="1200"/>
              </a:spcAft>
              <a:defRPr sz="1900"/>
            </a:pPr>
            <a:r>
              <a:rPr sz="3600">
                <a:sym typeface="+mn-ea"/>
              </a:rPr>
              <a:t>Farmers and farm managers – to understand seasonal performance and resource usage.</a:t>
            </a:r>
            <a:endParaRPr sz="3600">
              <a:sym typeface="+mn-ea"/>
            </a:endParaRPr>
          </a:p>
          <a:p>
            <a:pPr>
              <a:spcAft>
                <a:spcPts val="1200"/>
              </a:spcAft>
              <a:defRPr sz="1900"/>
            </a:pPr>
            <a:r>
              <a:rPr sz="3600">
                <a:sym typeface="+mn-ea"/>
              </a:rPr>
              <a:t>Agricultural planners and decision-makers – to support evidence-based seasonal planning.</a:t>
            </a:r>
            <a:endParaRPr sz="3600">
              <a:sym typeface="+mn-ea"/>
            </a:endParaRPr>
          </a:p>
          <a:p>
            <a:pPr>
              <a:spcAft>
                <a:spcPts val="1200"/>
              </a:spcAft>
              <a:defRPr sz="1900"/>
            </a:pPr>
            <a:r>
              <a:rPr sz="3600">
                <a:sym typeface="+mn-ea"/>
              </a:rPr>
              <a:t>Agricultural researchers and analysts – to study relationships between environmental conditions and outcomes.</a:t>
            </a:r>
            <a:endParaRPr sz="3600">
              <a:sym typeface="+mn-ea"/>
            </a:endParaRPr>
          </a:p>
          <a:p>
            <a:pPr>
              <a:spcAft>
                <a:spcPts val="1200"/>
              </a:spcAft>
              <a:defRPr sz="1900"/>
            </a:pPr>
            <a:r>
              <a:rPr sz="3600">
                <a:sym typeface="+mn-ea"/>
              </a:rPr>
              <a:t>Agricultural organizations – to compare production, profitability and efficiency across categories and seasons.</a:t>
            </a:r>
            <a:endParaRPr sz="3600">
              <a:sym typeface="+mn-ea"/>
            </a:endParaRPr>
          </a:p>
          <a:p>
            <a:pPr>
              <a:spcAft>
                <a:spcPts val="1200"/>
              </a:spcAft>
              <a:defRPr sz="1900"/>
            </a:pPr>
            <a:r>
              <a:rPr sz="3600">
                <a:sym typeface="+mn-ea"/>
              </a:rPr>
              <a:t>Students and data analysts – as a real-world case study in data analytics.</a:t>
            </a:r>
            <a:endParaRPr lang="en-IN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607185" y="1432560"/>
            <a:ext cx="7811135" cy="5243195"/>
          </a:xfrm>
        </p:spPr>
        <p:txBody>
          <a:bodyPr>
            <a:normAutofit lnSpcReduction="20000"/>
          </a:bodyPr>
          <a:lstStyle/>
          <a:p>
            <a:pPr>
              <a:spcAft>
                <a:spcPts val="1200"/>
              </a:spcAft>
              <a:defRPr sz="2000"/>
            </a:pPr>
            <a:r>
              <a:rPr>
                <a:sym typeface="+mn-ea"/>
              </a:rPr>
              <a:t>Python – core programming language for analysis.</a:t>
            </a:r>
            <a:endParaRPr>
              <a:sym typeface="+mn-ea"/>
            </a:endParaRPr>
          </a:p>
          <a:p>
            <a:pPr>
              <a:spcAft>
                <a:spcPts val="1200"/>
              </a:spcAft>
              <a:defRPr sz="2000"/>
            </a:pPr>
            <a:r>
              <a:rPr>
                <a:sym typeface="+mn-ea"/>
              </a:rPr>
              <a:t>Pandas – dataset loading, cleaning, transformation and aggregation.</a:t>
            </a:r>
            <a:endParaRPr>
              <a:sym typeface="+mn-ea"/>
            </a:endParaRPr>
          </a:p>
          <a:p>
            <a:pPr>
              <a:spcAft>
                <a:spcPts val="1200"/>
              </a:spcAft>
              <a:defRPr sz="2000"/>
            </a:pPr>
            <a:r>
              <a:rPr>
                <a:sym typeface="+mn-ea"/>
              </a:rPr>
              <a:t>NumPy – numerical operations and calculations.</a:t>
            </a:r>
            <a:endParaRPr>
              <a:sym typeface="+mn-ea"/>
            </a:endParaRPr>
          </a:p>
          <a:p>
            <a:pPr>
              <a:spcAft>
                <a:spcPts val="1200"/>
              </a:spcAft>
              <a:defRPr sz="2000"/>
            </a:pPr>
            <a:r>
              <a:rPr>
                <a:sym typeface="+mn-ea"/>
              </a:rPr>
              <a:t>Matplotlib – charts and visualizations.</a:t>
            </a:r>
            <a:endParaRPr>
              <a:sym typeface="+mn-ea"/>
            </a:endParaRPr>
          </a:p>
          <a:p>
            <a:pPr>
              <a:spcAft>
                <a:spcPts val="1200"/>
              </a:spcAft>
              <a:defRPr sz="2000"/>
            </a:pPr>
            <a:r>
              <a:rPr>
                <a:sym typeface="+mn-ea"/>
              </a:rPr>
              <a:t>Jupyter Notebook / Google Colab – interactive analysis and documentation.</a:t>
            </a:r>
            <a:endParaRPr>
              <a:sym typeface="+mn-ea"/>
            </a:endParaRPr>
          </a:p>
          <a:p>
            <a:pPr>
              <a:spcAft>
                <a:spcPts val="1200"/>
              </a:spcAft>
              <a:defRPr sz="2000"/>
            </a:pPr>
            <a:r>
              <a:rPr>
                <a:sym typeface="+mn-ea"/>
              </a:rPr>
              <a:t>CSV Dataset – source of agricultural, environmental, production and economic data.</a:t>
            </a:r>
            <a:endParaRPr>
              <a:sym typeface="+mn-ea"/>
            </a:endParaRP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99415" y="1680210"/>
            <a:ext cx="8904605" cy="4573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000">
                <a:sym typeface="+mn-ea"/>
              </a:rPr>
              <a:t>Dataset successfully analyzed with 4,000 records and 28 columns.</a:t>
            </a:r>
            <a:endParaRPr sz="2000">
              <a:sym typeface="+mn-ea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000">
                <a:sym typeface="+mn-ea"/>
              </a:rPr>
              <a:t>Missing values were identified in 3 numerical variables and handled using median imputation.</a:t>
            </a:r>
            <a:endParaRPr sz="2000">
              <a:sym typeface="+mn-ea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000">
                <a:sym typeface="+mn-ea"/>
              </a:rPr>
              <a:t>Duplicate records were checked and removed before analysis.</a:t>
            </a:r>
            <a:endParaRPr sz="2000">
              <a:sym typeface="+mn-ea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000">
                <a:sym typeface="+mn-ea"/>
              </a:rPr>
              <a:t>Descriptive statistics, distributions and outlier checks were used to understand data quality and variability.</a:t>
            </a:r>
            <a:endParaRPr sz="2000">
              <a:sym typeface="+mn-ea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000">
                <a:sym typeface="+mn-ea"/>
              </a:rPr>
              <a:t>The dataset enables comparison of environmental conditions, production, resource usage and economic outcomes.</a:t>
            </a:r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759876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IN" altLang="en-US"/>
              <a:t>RESULTS</a:t>
            </a:r>
            <a:br>
              <a:rPr lang="en-IN" altLang="en-US"/>
            </a:br>
            <a:endParaRPr lang="en-IN" altLang="en-US"/>
          </a:p>
        </p:txBody>
      </p:sp>
      <p:pic>
        <p:nvPicPr>
          <p:cNvPr id="6" name="Picture 5" descr="Screenshot 2026-09-09 1741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555" y="2063750"/>
            <a:ext cx="5861050" cy="46767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17995" y="2258060"/>
            <a:ext cx="4064000" cy="27686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>
              <a:spcAft>
                <a:spcPts val="1200"/>
              </a:spcAft>
              <a:defRPr sz="1600"/>
            </a:pPr>
            <a:r>
              <a:rPr sz="1800">
                <a:sym typeface="+mn-ea"/>
              </a:rPr>
              <a:t>Highest average yield was observed in the Kharif season.</a:t>
            </a:r>
            <a:endParaRPr sz="1800">
              <a:sym typeface="+mn-ea"/>
            </a:endParaRPr>
          </a:p>
          <a:p>
            <a:pPr>
              <a:spcAft>
                <a:spcPts val="1200"/>
              </a:spcAft>
              <a:defRPr sz="1600"/>
            </a:pPr>
            <a:r>
              <a:rPr sz="1800">
                <a:sym typeface="+mn-ea"/>
              </a:rPr>
              <a:t>Highest average profit was observed in the Kharif season.</a:t>
            </a:r>
            <a:endParaRPr sz="1800">
              <a:sym typeface="+mn-ea"/>
            </a:endParaRPr>
          </a:p>
          <a:p>
            <a:pPr>
              <a:spcAft>
                <a:spcPts val="1200"/>
              </a:spcAft>
              <a:defRPr sz="1600"/>
            </a:pPr>
            <a:r>
              <a:rPr sz="1800">
                <a:sym typeface="+mn-ea"/>
              </a:rPr>
              <a:t>Seasonal comparisons reveal that agricultural outcomes are not uniform across seasons.</a:t>
            </a:r>
            <a:endParaRPr sz="1800">
              <a:sym typeface="+mn-ea"/>
            </a:endParaRPr>
          </a:p>
          <a:p>
            <a:pPr algn="l"/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6" name="Text Box 5"/>
          <p:cNvSpPr txBox="1"/>
          <p:nvPr/>
        </p:nvSpPr>
        <p:spPr>
          <a:xfrm>
            <a:off x="359410" y="1103630"/>
            <a:ext cx="11641455" cy="575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486410" y="1230630"/>
            <a:ext cx="11641455" cy="575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13410" y="1357630"/>
            <a:ext cx="11641455" cy="575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40410" y="1484630"/>
            <a:ext cx="11641455" cy="575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867410" y="1611630"/>
            <a:ext cx="11641455" cy="4528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2" name="Picture 11" descr="Screenshot 2026-09-09 1736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10" y="1357630"/>
            <a:ext cx="7406640" cy="461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Text Box 1"/>
          <p:cNvSpPr txBox="1"/>
          <p:nvPr/>
        </p:nvSpPr>
        <p:spPr>
          <a:xfrm>
            <a:off x="320040" y="2137410"/>
            <a:ext cx="8607425" cy="433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59410" y="1103630"/>
            <a:ext cx="11641455" cy="575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86410" y="1230630"/>
            <a:ext cx="11641455" cy="575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613410" y="1357630"/>
            <a:ext cx="11641455" cy="575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740410" y="1484630"/>
            <a:ext cx="11641455" cy="575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630"/>
            <a:ext cx="11643360" cy="576072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035050" y="2225040"/>
            <a:ext cx="7835265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>
                <a:sym typeface="+mn-ea"/>
              </a:rPr>
              <a:t>Season has a measurable relationship with agricultural performance indicators such as yield, production and profit.</a:t>
            </a:r>
            <a:endParaRPr>
              <a:sym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>
                <a:sym typeface="+mn-ea"/>
              </a:rPr>
              <a:t>Environmental variables such as rainfall, temperature, humidity and soil moisture can be compared with agricultural outcomes.</a:t>
            </a:r>
            <a:endParaRPr>
              <a:sym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>
                <a:sym typeface="+mn-ea"/>
              </a:rPr>
              <a:t>Resource usage varies across farming conditions and irrigation methods.</a:t>
            </a:r>
            <a:endParaRPr>
              <a:sym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>
                <a:sym typeface="+mn-ea"/>
              </a:rPr>
              <a:t>Sugarcane recorded the highest average profit among the crop categories in this analysis.</a:t>
            </a:r>
            <a:endParaRPr>
              <a:sym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>
                <a:sym typeface="+mn-ea"/>
              </a:rPr>
              <a:t>Correlation analysis helps identify variables that move together and deserve further investigation.</a:t>
            </a:r>
            <a:endParaRPr>
              <a:sym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pPr>
            <a:r>
              <a:rPr>
                <a:sym typeface="+mn-ea"/>
              </a:rPr>
              <a:t>Outlier analysis highlights unusual observations that may require additional investigation rather than automatic removal.</a:t>
            </a:r>
            <a:endParaRPr lang="en-US"/>
          </a:p>
        </p:txBody>
      </p:sp>
      <p:pic>
        <p:nvPicPr>
          <p:cNvPr id="15" name="Picture 14" descr="Screenshot 2026-09-09 1748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25" y="1431925"/>
            <a:ext cx="3380740" cy="5133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  <a:endParaRPr lang="en-IN" sz="4000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675" y="1275080"/>
            <a:ext cx="9474200" cy="4688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1800">
                <a:sym typeface="+mn-ea"/>
              </a:rPr>
              <a:t>Build machine learning models to predict crop yield, production or profit.</a:t>
            </a:r>
            <a:endParaRPr sz="1800">
              <a:sym typeface="+mn-ea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1800">
                <a:sym typeface="+mn-ea"/>
              </a:rPr>
              <a:t>Integrate real-time weather and rainfall data for dynamic seasonal analysis.</a:t>
            </a:r>
            <a:endParaRPr sz="1800">
              <a:sym typeface="+mn-ea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1800">
                <a:sym typeface="+mn-ea"/>
              </a:rPr>
              <a:t>Develop an interactive Power BI or Tableau dashboard for farmers and decision-makers.</a:t>
            </a:r>
            <a:endParaRPr sz="1800">
              <a:sym typeface="+mn-ea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1800">
                <a:sym typeface="+mn-ea"/>
              </a:rPr>
              <a:t>Include historical market prices and demand data to improve economic analysis.</a:t>
            </a:r>
            <a:endParaRPr sz="1800">
              <a:sym typeface="+mn-ea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1800">
                <a:sym typeface="+mn-ea"/>
              </a:rPr>
              <a:t>Add satellite, soil sensor and IoT data for more precise farm-level monitoring.</a:t>
            </a:r>
            <a:endParaRPr sz="1800">
              <a:sym typeface="+mn-ea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1800">
                <a:sym typeface="+mn-ea"/>
              </a:rPr>
              <a:t>Perform region-wise forecasting and crop-specific recommendation analysis.</a:t>
            </a:r>
            <a:endParaRPr sz="1800">
              <a:sym typeface="+mn-ea"/>
            </a:endParaRPr>
          </a:p>
          <a:p>
            <a:pPr algn="l">
              <a:spcAft>
                <a:spcPts val="1200"/>
              </a:spcAft>
            </a:pPr>
            <a:endParaRPr lang="en-GB" sz="18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  <a:endParaRPr lang="en-IN" sz="4000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554990" y="2740025"/>
            <a:ext cx="7232650" cy="266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en-US" dirty="0"/>
              <a:t>https://github.com/chharshitha55/DataAnalysis_MajorProject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  <a:endParaRPr lang="en-IN" sz="3200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 descr="Screenshot 2026-09-09 1706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579245"/>
            <a:ext cx="7536180" cy="4772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200" y="2820670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/>
</ds:datastoreItem>
</file>

<file path=customXml/itemProps2.xml><?xml version="1.0" encoding="utf-8"?>
<ds:datastoreItem xmlns:ds="http://schemas.openxmlformats.org/officeDocument/2006/customXml" ds:itemID="{4DEA9014-ED64-4558-B1E1-D03F0EE32BEB}">
  <ds:schemaRefs/>
</ds:datastoreItem>
</file>

<file path=customXml/itemProps3.xml><?xml version="1.0" encoding="utf-8"?>
<ds:datastoreItem xmlns:ds="http://schemas.openxmlformats.org/officeDocument/2006/customXml" ds:itemID="{05D99ABA-76CE-4A8E-B5F0-C051B96628D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4172</Words>
  <Application>WPS Presentation</Application>
  <PresentationFormat>Widescreen</PresentationFormat>
  <Paragraphs>85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Wingdings 3</vt:lpstr>
      <vt:lpstr>Arial</vt:lpstr>
      <vt:lpstr>Calibri</vt:lpstr>
      <vt:lpstr>Trebuchet MS</vt:lpstr>
      <vt:lpstr>Microsoft YaHei</vt:lpstr>
      <vt:lpstr>Arial Unicode MS</vt:lpstr>
      <vt:lpstr>Facet</vt:lpstr>
      <vt:lpstr>Seasonal Agriculture Performance Analysis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PowerPoint 演示文稿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Harshitha</cp:lastModifiedBy>
  <cp:revision>101</cp:revision>
  <dcterms:created xsi:type="dcterms:W3CDTF">2021-07-11T13:13:00Z</dcterms:created>
  <dcterms:modified xsi:type="dcterms:W3CDTF">2026-09-09T12:21:35Z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KSOProductBuildVer">
    <vt:lpwstr>1033-12.1.0.28485</vt:lpwstr>
  </property>
  <property fmtid="{D5CDD505-2E9C-101B-9397-08002B2CF9AE}" pid="4" name="ICV">
    <vt:lpwstr>43A224CAC9114C0C9007D8D5D74C0EA7_13</vt:lpwstr>
  </property>
</Properties>
</file>